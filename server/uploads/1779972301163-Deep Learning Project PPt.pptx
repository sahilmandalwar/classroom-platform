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Canva Sans Bold Italics" panose="020B0604020202020204" charset="0"/>
      <p:regular r:id="rId21"/>
    </p:embeddedFont>
    <p:embeddedFont>
      <p:font typeface="Canva Sans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9502" y="3897366"/>
            <a:ext cx="14686367" cy="209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Medical Diagnosis System Using Support Vector Machine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62645" y="1687682"/>
            <a:ext cx="14038975" cy="6547300"/>
            <a:chOff x="0" y="0"/>
            <a:chExt cx="3697508" cy="1724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97508" cy="1724392"/>
            </a:xfrm>
            <a:custGeom>
              <a:avLst/>
              <a:gdLst/>
              <a:ahLst/>
              <a:cxnLst/>
              <a:rect l="l" t="t" r="r" b="b"/>
              <a:pathLst>
                <a:path w="3697508" h="1724392">
                  <a:moveTo>
                    <a:pt x="9375" y="0"/>
                  </a:moveTo>
                  <a:lnTo>
                    <a:pt x="3688133" y="0"/>
                  </a:lnTo>
                  <a:cubicBezTo>
                    <a:pt x="3693311" y="0"/>
                    <a:pt x="3697508" y="4197"/>
                    <a:pt x="3697508" y="9375"/>
                  </a:cubicBezTo>
                  <a:lnTo>
                    <a:pt x="3697508" y="1715017"/>
                  </a:lnTo>
                  <a:cubicBezTo>
                    <a:pt x="3697508" y="1717503"/>
                    <a:pt x="3696520" y="1719888"/>
                    <a:pt x="3694762" y="1721646"/>
                  </a:cubicBezTo>
                  <a:cubicBezTo>
                    <a:pt x="3693004" y="1723404"/>
                    <a:pt x="3690620" y="1724392"/>
                    <a:pt x="3688133" y="1724392"/>
                  </a:cubicBezTo>
                  <a:lnTo>
                    <a:pt x="9375" y="1724392"/>
                  </a:lnTo>
                  <a:cubicBezTo>
                    <a:pt x="6888" y="1724392"/>
                    <a:pt x="4504" y="1723404"/>
                    <a:pt x="2746" y="1721646"/>
                  </a:cubicBezTo>
                  <a:cubicBezTo>
                    <a:pt x="988" y="1719888"/>
                    <a:pt x="0" y="1717503"/>
                    <a:pt x="0" y="1715017"/>
                  </a:cubicBezTo>
                  <a:lnTo>
                    <a:pt x="0" y="9375"/>
                  </a:lnTo>
                  <a:cubicBezTo>
                    <a:pt x="0" y="6888"/>
                    <a:pt x="988" y="4504"/>
                    <a:pt x="2746" y="2746"/>
                  </a:cubicBezTo>
                  <a:cubicBezTo>
                    <a:pt x="4504" y="988"/>
                    <a:pt x="6888" y="0"/>
                    <a:pt x="9375" y="0"/>
                  </a:cubicBezTo>
                  <a:close/>
                </a:path>
              </a:pathLst>
            </a:custGeom>
            <a:solidFill>
              <a:srgbClr val="B3B8BC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97508" cy="1762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201" y="4800600"/>
            <a:ext cx="17059122" cy="4947146"/>
          </a:xfrm>
          <a:custGeom>
            <a:avLst/>
            <a:gdLst/>
            <a:ahLst/>
            <a:cxnLst/>
            <a:rect l="l" t="t" r="r" b="b"/>
            <a:pathLst>
              <a:path w="17059122" h="4947146">
                <a:moveTo>
                  <a:pt x="0" y="0"/>
                </a:moveTo>
                <a:lnTo>
                  <a:pt x="17059123" y="0"/>
                </a:lnTo>
                <a:lnTo>
                  <a:pt x="17059123" y="4947146"/>
                </a:lnTo>
                <a:lnTo>
                  <a:pt x="0" y="4947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38300" y="667070"/>
            <a:ext cx="314706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Objective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7325" y="2189056"/>
            <a:ext cx="14993615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00"/>
              </a:lnSpc>
            </a:pPr>
            <a:r>
              <a:rPr lang="en-US" sz="45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a System to classify disease from medical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8300" y="3937000"/>
            <a:ext cx="297942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Datasets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9150" y="201931"/>
            <a:ext cx="419100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724400"/>
            <a:ext cx="95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819150" y="3239771"/>
            <a:ext cx="4191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0819" y="2051166"/>
            <a:ext cx="15111912" cy="7763745"/>
          </a:xfrm>
          <a:custGeom>
            <a:avLst/>
            <a:gdLst/>
            <a:ahLst/>
            <a:cxnLst/>
            <a:rect l="l" t="t" r="r" b="b"/>
            <a:pathLst>
              <a:path w="15111912" h="7763745">
                <a:moveTo>
                  <a:pt x="0" y="0"/>
                </a:moveTo>
                <a:lnTo>
                  <a:pt x="15111912" y="0"/>
                </a:lnTo>
                <a:lnTo>
                  <a:pt x="15111912" y="7763745"/>
                </a:lnTo>
                <a:lnTo>
                  <a:pt x="0" y="7763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6509" y="952500"/>
            <a:ext cx="11809101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Characteristics 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1719" y="343012"/>
            <a:ext cx="419100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685885"/>
            <a:ext cx="95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8700" y="79375"/>
            <a:ext cx="4191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58526" y="655639"/>
            <a:ext cx="10157274" cy="838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58526" y="1888905"/>
            <a:ext cx="12367074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AutoNum type="arabicPeriod"/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500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 Handling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3496803" y="2660430"/>
            <a:ext cx="0" cy="281629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3496803" y="3174780"/>
            <a:ext cx="1796150" cy="649224"/>
          </a:xfrm>
          <a:custGeom>
            <a:avLst/>
            <a:gdLst/>
            <a:ahLst/>
            <a:cxnLst/>
            <a:rect l="l" t="t" r="r" b="b"/>
            <a:pathLst>
              <a:path w="1796150" h="649224">
                <a:moveTo>
                  <a:pt x="0" y="0"/>
                </a:moveTo>
                <a:lnTo>
                  <a:pt x="936974" y="0"/>
                </a:lnTo>
                <a:cubicBezTo>
                  <a:pt x="997603" y="0"/>
                  <a:pt x="1055748" y="24084"/>
                  <a:pt x="1098619" y="66955"/>
                </a:cubicBezTo>
                <a:cubicBezTo>
                  <a:pt x="1141490" y="109826"/>
                  <a:pt x="1165574" y="167971"/>
                  <a:pt x="1165574" y="228600"/>
                </a:cubicBezTo>
                <a:lnTo>
                  <a:pt x="1165574" y="420624"/>
                </a:lnTo>
                <a:cubicBezTo>
                  <a:pt x="1165574" y="546876"/>
                  <a:pt x="1267922" y="649224"/>
                  <a:pt x="1394174" y="649224"/>
                </a:cubicBezTo>
                <a:lnTo>
                  <a:pt x="1796151" y="649224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5359629" y="3069399"/>
            <a:ext cx="830969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D9574"/>
                </a:solidFill>
                <a:latin typeface="Canva Sans"/>
                <a:ea typeface="Canva Sans"/>
                <a:cs typeface="Canva Sans"/>
                <a:sym typeface="Canva Sans"/>
              </a:rPr>
              <a:t>Missing Numeric values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are replaced by  respective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feature mean</a:t>
            </a:r>
          </a:p>
        </p:txBody>
      </p:sp>
      <p:sp>
        <p:nvSpPr>
          <p:cNvPr id="9" name="Freeform 9"/>
          <p:cNvSpPr/>
          <p:nvPr/>
        </p:nvSpPr>
        <p:spPr>
          <a:xfrm>
            <a:off x="3526525" y="4233318"/>
            <a:ext cx="1504359" cy="871667"/>
          </a:xfrm>
          <a:custGeom>
            <a:avLst/>
            <a:gdLst/>
            <a:ahLst/>
            <a:cxnLst/>
            <a:rect l="l" t="t" r="r" b="b"/>
            <a:pathLst>
              <a:path w="1504359" h="871667">
                <a:moveTo>
                  <a:pt x="0" y="0"/>
                </a:moveTo>
                <a:lnTo>
                  <a:pt x="520865" y="0"/>
                </a:lnTo>
                <a:cubicBezTo>
                  <a:pt x="647118" y="0"/>
                  <a:pt x="749465" y="102348"/>
                  <a:pt x="749465" y="228600"/>
                </a:cubicBezTo>
                <a:lnTo>
                  <a:pt x="749465" y="659423"/>
                </a:lnTo>
                <a:cubicBezTo>
                  <a:pt x="749465" y="766121"/>
                  <a:pt x="835961" y="852617"/>
                  <a:pt x="942659" y="852617"/>
                </a:cubicBezTo>
                <a:lnTo>
                  <a:pt x="1126327" y="852617"/>
                </a:lnTo>
                <a:cubicBezTo>
                  <a:pt x="1128854" y="852617"/>
                  <a:pt x="1131276" y="853620"/>
                  <a:pt x="1133063" y="855406"/>
                </a:cubicBezTo>
                <a:cubicBezTo>
                  <a:pt x="1134849" y="857193"/>
                  <a:pt x="1135852" y="859615"/>
                  <a:pt x="1135852" y="862142"/>
                </a:cubicBezTo>
                <a:lnTo>
                  <a:pt x="1135852" y="862142"/>
                </a:lnTo>
                <a:cubicBezTo>
                  <a:pt x="1135852" y="864668"/>
                  <a:pt x="1136856" y="867090"/>
                  <a:pt x="1138642" y="868877"/>
                </a:cubicBezTo>
                <a:cubicBezTo>
                  <a:pt x="1140429" y="870663"/>
                  <a:pt x="1142851" y="871667"/>
                  <a:pt x="1145377" y="871667"/>
                </a:cubicBezTo>
                <a:lnTo>
                  <a:pt x="1504359" y="871667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030885" y="4973950"/>
            <a:ext cx="262069" cy="26206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030885" y="3692969"/>
            <a:ext cx="262069" cy="26206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92954" y="4520568"/>
            <a:ext cx="87399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Missing categorical values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are replaced by respective feature</a:t>
            </a: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 frequent value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8526" y="6120133"/>
            <a:ext cx="568833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algn="l">
              <a:lnSpc>
                <a:spcPts val="6299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4500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Scaling  </a:t>
            </a:r>
          </a:p>
        </p:txBody>
      </p:sp>
      <p:sp>
        <p:nvSpPr>
          <p:cNvPr id="18" name="Freeform 18"/>
          <p:cNvSpPr/>
          <p:nvPr/>
        </p:nvSpPr>
        <p:spPr>
          <a:xfrm>
            <a:off x="3645414" y="6687843"/>
            <a:ext cx="1453728" cy="1004802"/>
          </a:xfrm>
          <a:custGeom>
            <a:avLst/>
            <a:gdLst/>
            <a:ahLst/>
            <a:cxnLst/>
            <a:rect l="l" t="t" r="r" b="b"/>
            <a:pathLst>
              <a:path w="1453728" h="1004802">
                <a:moveTo>
                  <a:pt x="0" y="0"/>
                </a:moveTo>
                <a:quadBezTo>
                  <a:pt x="79737" y="1162998"/>
                  <a:pt x="1453728" y="979896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5097560" y="7510783"/>
            <a:ext cx="262069" cy="26206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359629" y="6948808"/>
            <a:ext cx="879999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Numerical data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are transform within same Distribution  using </a:t>
            </a:r>
            <a:r>
              <a:rPr lang="en-US" sz="3399">
                <a:solidFill>
                  <a:srgbClr val="A6A6A6"/>
                </a:solidFill>
                <a:latin typeface="Canva Sans"/>
                <a:ea typeface="Canva Sans"/>
                <a:cs typeface="Canva Sans"/>
                <a:sym typeface="Canva Sans"/>
              </a:rPr>
              <a:t>standard Scaler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92889" y="8455347"/>
            <a:ext cx="1232968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Scaling prevents features with larger numeric ranges from dominating distance calculations in algorithms like SVM.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0" y="8319773"/>
            <a:ext cx="5768340" cy="135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7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45372" y="764642"/>
            <a:ext cx="5241225" cy="754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6" lvl="1" algn="l">
              <a:lnSpc>
                <a:spcPts val="6300"/>
              </a:lnSpc>
            </a:pPr>
            <a:r>
              <a:rPr lang="en-US" sz="4500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Encoding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3526525" y="1642213"/>
            <a:ext cx="0" cy="143049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3526525" y="1997621"/>
            <a:ext cx="1706984" cy="649224"/>
          </a:xfrm>
          <a:custGeom>
            <a:avLst/>
            <a:gdLst/>
            <a:ahLst/>
            <a:cxnLst/>
            <a:rect l="l" t="t" r="r" b="b"/>
            <a:pathLst>
              <a:path w="1706984" h="649224">
                <a:moveTo>
                  <a:pt x="0" y="0"/>
                </a:moveTo>
                <a:lnTo>
                  <a:pt x="624893" y="0"/>
                </a:lnTo>
                <a:cubicBezTo>
                  <a:pt x="751145" y="0"/>
                  <a:pt x="853493" y="102347"/>
                  <a:pt x="853493" y="228600"/>
                </a:cubicBezTo>
                <a:lnTo>
                  <a:pt x="853493" y="420624"/>
                </a:lnTo>
                <a:cubicBezTo>
                  <a:pt x="853493" y="546876"/>
                  <a:pt x="955840" y="649224"/>
                  <a:pt x="1082093" y="649224"/>
                </a:cubicBezTo>
                <a:lnTo>
                  <a:pt x="1706984" y="649224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102475" y="2515810"/>
            <a:ext cx="262069" cy="2620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33509" y="1892240"/>
            <a:ext cx="978748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Categorical entries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are encoded to </a:t>
            </a: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numerical values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using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OneHotEncoder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8714" y="2920305"/>
            <a:ext cx="670560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#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9238" y="4661852"/>
            <a:ext cx="952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827696" y="3446720"/>
            <a:ext cx="113842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Algorithm works well when numerical data is feed to it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8714" y="4843416"/>
            <a:ext cx="670179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</a:t>
            </a:r>
            <a:r>
              <a:rPr lang="en-US" sz="4500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Imbalance Handling</a:t>
            </a:r>
          </a:p>
        </p:txBody>
      </p:sp>
      <p:sp>
        <p:nvSpPr>
          <p:cNvPr id="13" name="AutoShape 13"/>
          <p:cNvSpPr/>
          <p:nvPr/>
        </p:nvSpPr>
        <p:spPr>
          <a:xfrm flipH="1" flipV="1">
            <a:off x="3507475" y="5569708"/>
            <a:ext cx="19050" cy="410530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4890404" y="5857422"/>
            <a:ext cx="1237330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D9574"/>
                </a:solidFill>
                <a:latin typeface="Canva Sans"/>
                <a:ea typeface="Canva Sans"/>
                <a:cs typeface="Canva Sans"/>
                <a:sym typeface="Canva Sans"/>
              </a:rPr>
              <a:t>Medical datasets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are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 frequently imbalanced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as healthy patient records often outnumber positive disease cases.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1063" y="7366656"/>
            <a:ext cx="1238264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SMOTE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 applied during preprocessing to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synthetically balance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training classes.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1063" y="8785246"/>
            <a:ext cx="1133796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</a:t>
            </a:r>
            <a:r>
              <a:rPr lang="en-US" sz="3399">
                <a:solidFill>
                  <a:srgbClr val="8C52FF"/>
                </a:solidFill>
                <a:latin typeface="Canva Sans"/>
                <a:ea typeface="Canva Sans"/>
                <a:cs typeface="Canva Sans"/>
                <a:sym typeface="Canva Sans"/>
              </a:rPr>
              <a:t>prevents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3399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 SVM classifier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from </a:t>
            </a: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developing a bias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toward the majority class</a:t>
            </a:r>
          </a:p>
        </p:txBody>
      </p:sp>
      <p:sp>
        <p:nvSpPr>
          <p:cNvPr id="17" name="Freeform 17"/>
          <p:cNvSpPr/>
          <p:nvPr/>
        </p:nvSpPr>
        <p:spPr>
          <a:xfrm>
            <a:off x="3507475" y="6026908"/>
            <a:ext cx="1439485" cy="585118"/>
          </a:xfrm>
          <a:custGeom>
            <a:avLst/>
            <a:gdLst/>
            <a:ahLst/>
            <a:cxnLst/>
            <a:rect l="l" t="t" r="r" b="b"/>
            <a:pathLst>
              <a:path w="1439485" h="585118">
                <a:moveTo>
                  <a:pt x="0" y="0"/>
                </a:moveTo>
                <a:lnTo>
                  <a:pt x="406166" y="0"/>
                </a:lnTo>
                <a:cubicBezTo>
                  <a:pt x="466794" y="0"/>
                  <a:pt x="524939" y="24085"/>
                  <a:pt x="567810" y="66956"/>
                </a:cubicBezTo>
                <a:cubicBezTo>
                  <a:pt x="610681" y="109827"/>
                  <a:pt x="634766" y="167972"/>
                  <a:pt x="634766" y="228600"/>
                </a:cubicBezTo>
                <a:lnTo>
                  <a:pt x="634766" y="237630"/>
                </a:lnTo>
                <a:cubicBezTo>
                  <a:pt x="634766" y="298258"/>
                  <a:pt x="658850" y="356404"/>
                  <a:pt x="701721" y="399275"/>
                </a:cubicBezTo>
                <a:cubicBezTo>
                  <a:pt x="744592" y="442145"/>
                  <a:pt x="802737" y="466230"/>
                  <a:pt x="863366" y="466230"/>
                </a:cubicBezTo>
                <a:lnTo>
                  <a:pt x="1380041" y="466230"/>
                </a:lnTo>
                <a:cubicBezTo>
                  <a:pt x="1395807" y="466230"/>
                  <a:pt x="1410927" y="472493"/>
                  <a:pt x="1422075" y="483640"/>
                </a:cubicBezTo>
                <a:cubicBezTo>
                  <a:pt x="1433223" y="494788"/>
                  <a:pt x="1439486" y="509909"/>
                  <a:pt x="1439486" y="525674"/>
                </a:cubicBezTo>
                <a:lnTo>
                  <a:pt x="1439486" y="585119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3565373" y="7271758"/>
            <a:ext cx="1439485" cy="585118"/>
          </a:xfrm>
          <a:custGeom>
            <a:avLst/>
            <a:gdLst/>
            <a:ahLst/>
            <a:cxnLst/>
            <a:rect l="l" t="t" r="r" b="b"/>
            <a:pathLst>
              <a:path w="1439485" h="585118">
                <a:moveTo>
                  <a:pt x="0" y="0"/>
                </a:moveTo>
                <a:lnTo>
                  <a:pt x="406166" y="0"/>
                </a:lnTo>
                <a:cubicBezTo>
                  <a:pt x="532418" y="0"/>
                  <a:pt x="634766" y="102348"/>
                  <a:pt x="634766" y="228600"/>
                </a:cubicBezTo>
                <a:lnTo>
                  <a:pt x="634766" y="237629"/>
                </a:lnTo>
                <a:cubicBezTo>
                  <a:pt x="634766" y="363881"/>
                  <a:pt x="737113" y="466229"/>
                  <a:pt x="863366" y="466229"/>
                </a:cubicBezTo>
                <a:lnTo>
                  <a:pt x="1380041" y="466229"/>
                </a:lnTo>
                <a:cubicBezTo>
                  <a:pt x="1395807" y="466229"/>
                  <a:pt x="1410927" y="472493"/>
                  <a:pt x="1422075" y="483640"/>
                </a:cubicBezTo>
                <a:cubicBezTo>
                  <a:pt x="1433223" y="494788"/>
                  <a:pt x="1439485" y="509908"/>
                  <a:pt x="1439485" y="525674"/>
                </a:cubicBezTo>
                <a:lnTo>
                  <a:pt x="1439485" y="585118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3565373" y="8673182"/>
            <a:ext cx="1439485" cy="585118"/>
          </a:xfrm>
          <a:custGeom>
            <a:avLst/>
            <a:gdLst/>
            <a:ahLst/>
            <a:cxnLst/>
            <a:rect l="l" t="t" r="r" b="b"/>
            <a:pathLst>
              <a:path w="1439485" h="585118">
                <a:moveTo>
                  <a:pt x="0" y="0"/>
                </a:moveTo>
                <a:lnTo>
                  <a:pt x="406166" y="0"/>
                </a:lnTo>
                <a:cubicBezTo>
                  <a:pt x="466794" y="0"/>
                  <a:pt x="524939" y="24085"/>
                  <a:pt x="567810" y="66956"/>
                </a:cubicBezTo>
                <a:cubicBezTo>
                  <a:pt x="610681" y="109826"/>
                  <a:pt x="634766" y="167971"/>
                  <a:pt x="634766" y="228600"/>
                </a:cubicBezTo>
                <a:lnTo>
                  <a:pt x="634766" y="237630"/>
                </a:lnTo>
                <a:cubicBezTo>
                  <a:pt x="634766" y="363882"/>
                  <a:pt x="737113" y="466230"/>
                  <a:pt x="863366" y="466230"/>
                </a:cubicBezTo>
                <a:lnTo>
                  <a:pt x="1380041" y="466230"/>
                </a:lnTo>
                <a:cubicBezTo>
                  <a:pt x="1395807" y="466230"/>
                  <a:pt x="1410927" y="472493"/>
                  <a:pt x="1422075" y="483640"/>
                </a:cubicBezTo>
                <a:cubicBezTo>
                  <a:pt x="1433223" y="494789"/>
                  <a:pt x="1439485" y="509909"/>
                  <a:pt x="1439485" y="525674"/>
                </a:cubicBezTo>
                <a:lnTo>
                  <a:pt x="1439485" y="585118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4815926" y="8996231"/>
            <a:ext cx="262069" cy="26206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40406" y="7594807"/>
            <a:ext cx="262069" cy="26206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50029" y="6349957"/>
            <a:ext cx="262069" cy="26206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29520"/>
            <a:ext cx="381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249307" y="933450"/>
            <a:ext cx="13744943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Principal Component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21102" y="2267166"/>
            <a:ext cx="1626689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Medical datasets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often</a:t>
            </a: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 contain highly correlated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3399">
                <a:solidFill>
                  <a:srgbClr val="1D9574"/>
                </a:solidFill>
                <a:latin typeface="Canva Sans"/>
                <a:ea typeface="Canva Sans"/>
                <a:cs typeface="Canva Sans"/>
                <a:sym typeface="Canva Sans"/>
              </a:rPr>
              <a:t>high-dimensional features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which can lead to </a:t>
            </a: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overfitting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3399">
                <a:solidFill>
                  <a:srgbClr val="8C52FF"/>
                </a:solidFill>
                <a:latin typeface="Canva Sans"/>
                <a:ea typeface="Canva Sans"/>
                <a:cs typeface="Canva Sans"/>
                <a:sym typeface="Canva Sans"/>
              </a:rPr>
              <a:t>slow down distance-based estimators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like SVM.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1102" y="4519930"/>
            <a:ext cx="1397829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mitigate this, we integrate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Principal Component Analysis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(PCA) into our preprocessing pipeline.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1102" y="6176645"/>
            <a:ext cx="1349563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PCA transforms the standardized data into a set of </a:t>
            </a: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linearly uncorrelated principal components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21102" y="7833360"/>
            <a:ext cx="1564273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selecting the </a:t>
            </a: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top components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that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capture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maximum variance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we </a:t>
            </a:r>
            <a:r>
              <a:rPr lang="en-US" sz="3399">
                <a:solidFill>
                  <a:srgbClr val="1D9574"/>
                </a:solidFill>
                <a:latin typeface="Canva Sans"/>
                <a:ea typeface="Canva Sans"/>
                <a:cs typeface="Canva Sans"/>
                <a:sym typeface="Canva Sans"/>
              </a:rPr>
              <a:t>eliminate noisy or redundant features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thereby </a:t>
            </a: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Refining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SVM </a:t>
            </a:r>
            <a:r>
              <a:rPr lang="en-US" sz="3399">
                <a:solidFill>
                  <a:srgbClr val="8C52FF"/>
                </a:solidFill>
                <a:latin typeface="Canva Sans"/>
                <a:ea typeface="Canva Sans"/>
                <a:cs typeface="Canva Sans"/>
                <a:sym typeface="Canva Sans"/>
              </a:rPr>
              <a:t>decision boundary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3399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improving classification efficiency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8872" y="4511428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38200" y="529520"/>
            <a:ext cx="381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2268" y="923925"/>
            <a:ext cx="8498531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Training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5689" y="500001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1731904" y="2145324"/>
            <a:ext cx="6177197" cy="2283604"/>
            <a:chOff x="0" y="0"/>
            <a:chExt cx="1626916" cy="6014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6916" cy="601443"/>
            </a:xfrm>
            <a:custGeom>
              <a:avLst/>
              <a:gdLst/>
              <a:ahLst/>
              <a:cxnLst/>
              <a:rect l="l" t="t" r="r" b="b"/>
              <a:pathLst>
                <a:path w="1626916" h="601443">
                  <a:moveTo>
                    <a:pt x="21306" y="0"/>
                  </a:moveTo>
                  <a:lnTo>
                    <a:pt x="1605610" y="0"/>
                  </a:lnTo>
                  <a:cubicBezTo>
                    <a:pt x="1611261" y="0"/>
                    <a:pt x="1616680" y="2245"/>
                    <a:pt x="1620676" y="6240"/>
                  </a:cubicBezTo>
                  <a:cubicBezTo>
                    <a:pt x="1624671" y="10236"/>
                    <a:pt x="1626916" y="15655"/>
                    <a:pt x="1626916" y="21306"/>
                  </a:cubicBezTo>
                  <a:lnTo>
                    <a:pt x="1626916" y="580137"/>
                  </a:lnTo>
                  <a:cubicBezTo>
                    <a:pt x="1626916" y="591904"/>
                    <a:pt x="1617377" y="601443"/>
                    <a:pt x="1605610" y="601443"/>
                  </a:cubicBezTo>
                  <a:lnTo>
                    <a:pt x="21306" y="601443"/>
                  </a:lnTo>
                  <a:cubicBezTo>
                    <a:pt x="9539" y="601443"/>
                    <a:pt x="0" y="591904"/>
                    <a:pt x="0" y="580137"/>
                  </a:cubicBezTo>
                  <a:lnTo>
                    <a:pt x="0" y="21306"/>
                  </a:lnTo>
                  <a:cubicBezTo>
                    <a:pt x="0" y="9539"/>
                    <a:pt x="9539" y="0"/>
                    <a:pt x="21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626916" cy="668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1018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Processed data is split into train and test data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09101" y="2840213"/>
            <a:ext cx="1984119" cy="893826"/>
            <a:chOff x="0" y="0"/>
            <a:chExt cx="1048368" cy="472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8368" cy="472280"/>
            </a:xfrm>
            <a:custGeom>
              <a:avLst/>
              <a:gdLst/>
              <a:ahLst/>
              <a:cxnLst/>
              <a:rect l="l" t="t" r="r" b="b"/>
              <a:pathLst>
                <a:path w="1048368" h="472280">
                  <a:moveTo>
                    <a:pt x="1048368" y="236140"/>
                  </a:moveTo>
                  <a:lnTo>
                    <a:pt x="641968" y="0"/>
                  </a:lnTo>
                  <a:lnTo>
                    <a:pt x="641968" y="203200"/>
                  </a:lnTo>
                  <a:lnTo>
                    <a:pt x="0" y="203200"/>
                  </a:lnTo>
                  <a:lnTo>
                    <a:pt x="0" y="269080"/>
                  </a:lnTo>
                  <a:lnTo>
                    <a:pt x="641968" y="269080"/>
                  </a:lnTo>
                  <a:lnTo>
                    <a:pt x="641968" y="472280"/>
                  </a:lnTo>
                  <a:lnTo>
                    <a:pt x="1048368" y="23614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65100"/>
              <a:ext cx="946768" cy="103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93219" y="1492003"/>
            <a:ext cx="7366081" cy="3086100"/>
            <a:chOff x="0" y="0"/>
            <a:chExt cx="1940038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0038" cy="812800"/>
            </a:xfrm>
            <a:custGeom>
              <a:avLst/>
              <a:gdLst/>
              <a:ahLst/>
              <a:cxnLst/>
              <a:rect l="l" t="t" r="r" b="b"/>
              <a:pathLst>
                <a:path w="1940038" h="812800">
                  <a:moveTo>
                    <a:pt x="17867" y="0"/>
                  </a:moveTo>
                  <a:lnTo>
                    <a:pt x="1922170" y="0"/>
                  </a:lnTo>
                  <a:cubicBezTo>
                    <a:pt x="1926909" y="0"/>
                    <a:pt x="1931454" y="1882"/>
                    <a:pt x="1934805" y="5233"/>
                  </a:cubicBezTo>
                  <a:cubicBezTo>
                    <a:pt x="1938155" y="8584"/>
                    <a:pt x="1940038" y="13129"/>
                    <a:pt x="1940038" y="17867"/>
                  </a:cubicBezTo>
                  <a:lnTo>
                    <a:pt x="1940038" y="794933"/>
                  </a:lnTo>
                  <a:cubicBezTo>
                    <a:pt x="1940038" y="799671"/>
                    <a:pt x="1938155" y="804216"/>
                    <a:pt x="1934805" y="807567"/>
                  </a:cubicBezTo>
                  <a:cubicBezTo>
                    <a:pt x="1931454" y="810918"/>
                    <a:pt x="1926909" y="812800"/>
                    <a:pt x="1922170" y="812800"/>
                  </a:cubicBezTo>
                  <a:lnTo>
                    <a:pt x="17867" y="812800"/>
                  </a:lnTo>
                  <a:cubicBezTo>
                    <a:pt x="13129" y="812800"/>
                    <a:pt x="8584" y="810918"/>
                    <a:pt x="5233" y="807567"/>
                  </a:cubicBezTo>
                  <a:cubicBezTo>
                    <a:pt x="1882" y="804216"/>
                    <a:pt x="0" y="799671"/>
                    <a:pt x="0" y="794933"/>
                  </a:cubicBezTo>
                  <a:lnTo>
                    <a:pt x="0" y="17867"/>
                  </a:lnTo>
                  <a:cubicBezTo>
                    <a:pt x="0" y="13129"/>
                    <a:pt x="1882" y="8584"/>
                    <a:pt x="5233" y="5233"/>
                  </a:cubicBezTo>
                  <a:cubicBezTo>
                    <a:pt x="8584" y="1882"/>
                    <a:pt x="13129" y="0"/>
                    <a:pt x="178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94003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SVM model is trained over the training data using standard sklearn library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788773" y="4428928"/>
            <a:ext cx="1010940" cy="2050563"/>
            <a:chOff x="0" y="0"/>
            <a:chExt cx="460538" cy="9341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0538" cy="934144"/>
            </a:xfrm>
            <a:custGeom>
              <a:avLst/>
              <a:gdLst/>
              <a:ahLst/>
              <a:cxnLst/>
              <a:rect l="l" t="t" r="r" b="b"/>
              <a:pathLst>
                <a:path w="460538" h="934144">
                  <a:moveTo>
                    <a:pt x="230269" y="934144"/>
                  </a:moveTo>
                  <a:lnTo>
                    <a:pt x="0" y="527744"/>
                  </a:lnTo>
                  <a:lnTo>
                    <a:pt x="203200" y="527744"/>
                  </a:lnTo>
                  <a:lnTo>
                    <a:pt x="203200" y="0"/>
                  </a:lnTo>
                  <a:lnTo>
                    <a:pt x="257338" y="0"/>
                  </a:lnTo>
                  <a:lnTo>
                    <a:pt x="257338" y="527744"/>
                  </a:lnTo>
                  <a:lnTo>
                    <a:pt x="460538" y="527744"/>
                  </a:lnTo>
                  <a:lnTo>
                    <a:pt x="230269" y="934144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54138" cy="870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68397" y="6479491"/>
            <a:ext cx="8298957" cy="3086100"/>
            <a:chOff x="0" y="0"/>
            <a:chExt cx="2185734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85734" cy="812800"/>
            </a:xfrm>
            <a:custGeom>
              <a:avLst/>
              <a:gdLst/>
              <a:ahLst/>
              <a:cxnLst/>
              <a:rect l="l" t="t" r="r" b="b"/>
              <a:pathLst>
                <a:path w="2185734" h="812800">
                  <a:moveTo>
                    <a:pt x="15859" y="0"/>
                  </a:moveTo>
                  <a:lnTo>
                    <a:pt x="2169875" y="0"/>
                  </a:lnTo>
                  <a:cubicBezTo>
                    <a:pt x="2174081" y="0"/>
                    <a:pt x="2178115" y="1671"/>
                    <a:pt x="2181089" y="4645"/>
                  </a:cubicBezTo>
                  <a:cubicBezTo>
                    <a:pt x="2184063" y="7619"/>
                    <a:pt x="2185734" y="11653"/>
                    <a:pt x="2185734" y="15859"/>
                  </a:cubicBezTo>
                  <a:lnTo>
                    <a:pt x="2185734" y="796941"/>
                  </a:lnTo>
                  <a:cubicBezTo>
                    <a:pt x="2185734" y="801147"/>
                    <a:pt x="2184063" y="805181"/>
                    <a:pt x="2181089" y="808155"/>
                  </a:cubicBezTo>
                  <a:cubicBezTo>
                    <a:pt x="2178115" y="811129"/>
                    <a:pt x="2174081" y="812800"/>
                    <a:pt x="2169875" y="812800"/>
                  </a:cubicBezTo>
                  <a:lnTo>
                    <a:pt x="15859" y="812800"/>
                  </a:lnTo>
                  <a:cubicBezTo>
                    <a:pt x="11653" y="812800"/>
                    <a:pt x="7619" y="811129"/>
                    <a:pt x="4645" y="808155"/>
                  </a:cubicBezTo>
                  <a:cubicBezTo>
                    <a:pt x="1671" y="805181"/>
                    <a:pt x="0" y="801147"/>
                    <a:pt x="0" y="796941"/>
                  </a:cubicBezTo>
                  <a:lnTo>
                    <a:pt x="0" y="15859"/>
                  </a:lnTo>
                  <a:cubicBezTo>
                    <a:pt x="0" y="11653"/>
                    <a:pt x="1671" y="7619"/>
                    <a:pt x="4645" y="4645"/>
                  </a:cubicBezTo>
                  <a:cubicBezTo>
                    <a:pt x="7619" y="1671"/>
                    <a:pt x="11653" y="0"/>
                    <a:pt x="158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461F4">
                    <a:alpha val="100000"/>
                  </a:srgbClr>
                </a:gs>
                <a:gs pos="100000">
                  <a:srgbClr val="81D8E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185734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1018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Hyperparameter are tunned for svm model and PCA component using Grid search CV.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98946" y="7466644"/>
            <a:ext cx="2439776" cy="1111793"/>
            <a:chOff x="0" y="0"/>
            <a:chExt cx="1071403" cy="4882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1403" cy="488233"/>
            </a:xfrm>
            <a:custGeom>
              <a:avLst/>
              <a:gdLst/>
              <a:ahLst/>
              <a:cxnLst/>
              <a:rect l="l" t="t" r="r" b="b"/>
              <a:pathLst>
                <a:path w="1071403" h="488233">
                  <a:moveTo>
                    <a:pt x="0" y="24411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71403" y="203200"/>
                  </a:lnTo>
                  <a:lnTo>
                    <a:pt x="1071403" y="285033"/>
                  </a:lnTo>
                  <a:lnTo>
                    <a:pt x="406400" y="285033"/>
                  </a:lnTo>
                  <a:lnTo>
                    <a:pt x="406400" y="488233"/>
                  </a:lnTo>
                  <a:lnTo>
                    <a:pt x="0" y="244116"/>
                  </a:ln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165100"/>
              <a:ext cx="969803" cy="119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417" y="5454210"/>
            <a:ext cx="6355530" cy="4051937"/>
            <a:chOff x="0" y="0"/>
            <a:chExt cx="1673884" cy="10671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73884" cy="1067177"/>
            </a:xfrm>
            <a:custGeom>
              <a:avLst/>
              <a:gdLst/>
              <a:ahLst/>
              <a:cxnLst/>
              <a:rect l="l" t="t" r="r" b="b"/>
              <a:pathLst>
                <a:path w="1673884" h="1067177">
                  <a:moveTo>
                    <a:pt x="20708" y="0"/>
                  </a:moveTo>
                  <a:lnTo>
                    <a:pt x="1653176" y="0"/>
                  </a:lnTo>
                  <a:cubicBezTo>
                    <a:pt x="1658668" y="0"/>
                    <a:pt x="1663935" y="2182"/>
                    <a:pt x="1667819" y="6065"/>
                  </a:cubicBezTo>
                  <a:cubicBezTo>
                    <a:pt x="1671702" y="9949"/>
                    <a:pt x="1673884" y="15216"/>
                    <a:pt x="1673884" y="20708"/>
                  </a:cubicBezTo>
                  <a:lnTo>
                    <a:pt x="1673884" y="1046469"/>
                  </a:lnTo>
                  <a:cubicBezTo>
                    <a:pt x="1673884" y="1057905"/>
                    <a:pt x="1664613" y="1067177"/>
                    <a:pt x="1653176" y="1067177"/>
                  </a:cubicBezTo>
                  <a:lnTo>
                    <a:pt x="20708" y="1067177"/>
                  </a:lnTo>
                  <a:cubicBezTo>
                    <a:pt x="15216" y="1067177"/>
                    <a:pt x="9949" y="1064995"/>
                    <a:pt x="6065" y="1061112"/>
                  </a:cubicBezTo>
                  <a:cubicBezTo>
                    <a:pt x="2182" y="1057228"/>
                    <a:pt x="0" y="1051961"/>
                    <a:pt x="0" y="1046469"/>
                  </a:cubicBezTo>
                  <a:lnTo>
                    <a:pt x="0" y="20708"/>
                  </a:lnTo>
                  <a:cubicBezTo>
                    <a:pt x="0" y="15216"/>
                    <a:pt x="2182" y="9949"/>
                    <a:pt x="6065" y="6065"/>
                  </a:cubicBezTo>
                  <a:cubicBezTo>
                    <a:pt x="9949" y="2182"/>
                    <a:pt x="15216" y="0"/>
                    <a:pt x="20708" y="0"/>
                  </a:cubicBezTo>
                  <a:close/>
                </a:path>
              </a:pathLst>
            </a:custGeom>
            <a:gradFill rotWithShape="1">
              <a:gsLst>
                <a:gs pos="15000">
                  <a:srgbClr val="C90003">
                    <a:alpha val="100000"/>
                  </a:srgbClr>
                </a:gs>
                <a:gs pos="50000">
                  <a:srgbClr val="185100">
                    <a:alpha val="100000"/>
                  </a:srgbClr>
                </a:gs>
                <a:gs pos="85000">
                  <a:srgbClr val="64AA38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673884" cy="113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is evaluated on the Test Data and hence the result of corresponding datasets are recorded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91407" y="4338639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38200" y="499798"/>
            <a:ext cx="381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3625" y="933450"/>
            <a:ext cx="1021737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Hyperparameter Tunning</a:t>
            </a:r>
          </a:p>
        </p:txBody>
      </p:sp>
      <p:sp>
        <p:nvSpPr>
          <p:cNvPr id="5" name="AutoShape 5"/>
          <p:cNvSpPr/>
          <p:nvPr/>
        </p:nvSpPr>
        <p:spPr>
          <a:xfrm>
            <a:off x="2515975" y="2066342"/>
            <a:ext cx="0" cy="649224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340141" y="2649343"/>
            <a:ext cx="351668" cy="3516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3530" y="2377441"/>
            <a:ext cx="1490842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Hyperparameter are Tunned using </a:t>
            </a: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GridSearchCV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present in </a:t>
            </a:r>
            <a:r>
              <a:rPr lang="en-US" sz="3399">
                <a:solidFill>
                  <a:srgbClr val="8C52FF"/>
                </a:solidFill>
                <a:latin typeface="Canva Sans"/>
                <a:ea typeface="Canva Sans"/>
                <a:cs typeface="Canva Sans"/>
                <a:sym typeface="Canva Sans"/>
              </a:rPr>
              <a:t>Sklearn library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54253" y="3853499"/>
            <a:ext cx="81534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Folllowing hyperparameter are  tunned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340141" y="4001197"/>
            <a:ext cx="351668" cy="35166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31916" y="4902201"/>
            <a:ext cx="106552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Kernal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attribute :  ["linear", "rbf", “polynomial”]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54265" y="5574557"/>
            <a:ext cx="870118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l">
              <a:lnSpc>
                <a:spcPts val="4759"/>
              </a:lnSpc>
            </a:pPr>
            <a:r>
              <a:rPr lang="en-US" sz="3399" dirty="0">
                <a:solidFill>
                  <a:srgbClr val="7ED957"/>
                </a:solidFill>
                <a:latin typeface="Canva Sans"/>
                <a:ea typeface="Canva Sans"/>
                <a:cs typeface="Canva Sans"/>
                <a:sym typeface="Canva Sans"/>
              </a:rPr>
              <a:t>2.  Gamma 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["scale", "auto"]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0755" y="6282374"/>
            <a:ext cx="580664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l">
              <a:lnSpc>
                <a:spcPts val="4759"/>
              </a:lnSpc>
            </a:pPr>
            <a:r>
              <a:rPr lang="en-US" sz="3399" dirty="0">
                <a:solidFill>
                  <a:srgbClr val="DF0E0E"/>
                </a:solidFill>
                <a:latin typeface="Canva Sans"/>
                <a:ea typeface="Canva Sans"/>
                <a:cs typeface="Canva Sans"/>
                <a:sym typeface="Canva Sans"/>
              </a:rPr>
              <a:t>3. C</a:t>
            </a:r>
            <a:r>
              <a:rPr lang="en-US" sz="3399" dirty="0">
                <a:solidFill>
                  <a:srgbClr val="7A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[0.1, 1, 10]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53167" y="7448551"/>
            <a:ext cx="575223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</a:t>
            </a:r>
            <a:r>
              <a:rPr lang="en-US" sz="3399" dirty="0" err="1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n_components</a:t>
            </a:r>
            <a:r>
              <a:rPr lang="en-US" sz="3399" dirty="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[5, 10]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6560" y="5425441"/>
            <a:ext cx="352559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8461F4">
                        <a:alpha val="100000"/>
                      </a:srgbClr>
                    </a:gs>
                    <a:gs pos="100000">
                      <a:srgbClr val="81D8E5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SVM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Hyperparameter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47020" y="7537073"/>
            <a:ext cx="454152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PCA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Hyperparameter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10015866" y="7165523"/>
            <a:ext cx="0" cy="11464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820983" y="7603748"/>
            <a:ext cx="351668" cy="35166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767551" y="4585996"/>
            <a:ext cx="816597" cy="1337781"/>
          </a:xfrm>
          <a:custGeom>
            <a:avLst/>
            <a:gdLst/>
            <a:ahLst/>
            <a:cxnLst/>
            <a:rect l="l" t="t" r="r" b="b"/>
            <a:pathLst>
              <a:path w="816597" h="1337781">
                <a:moveTo>
                  <a:pt x="0" y="2303"/>
                </a:moveTo>
                <a:quadBezTo>
                  <a:pt x="921285" y="-55497"/>
                  <a:pt x="803175" y="1337781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3668972" y="5923777"/>
            <a:ext cx="912776" cy="1115980"/>
          </a:xfrm>
          <a:custGeom>
            <a:avLst/>
            <a:gdLst/>
            <a:ahLst/>
            <a:cxnLst/>
            <a:rect l="l" t="t" r="r" b="b"/>
            <a:pathLst>
              <a:path w="912776" h="1115980">
                <a:moveTo>
                  <a:pt x="901754" y="0"/>
                </a:moveTo>
                <a:quadBezTo>
                  <a:pt x="1013079" y="1199816"/>
                  <a:pt x="0" y="1109682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4394892" y="5803279"/>
            <a:ext cx="351668" cy="35166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7134" y="3729346"/>
            <a:ext cx="8090153" cy="6166543"/>
          </a:xfrm>
          <a:custGeom>
            <a:avLst/>
            <a:gdLst/>
            <a:ahLst/>
            <a:cxnLst/>
            <a:rect l="l" t="t" r="r" b="b"/>
            <a:pathLst>
              <a:path w="8090153" h="6166543">
                <a:moveTo>
                  <a:pt x="0" y="0"/>
                </a:moveTo>
                <a:lnTo>
                  <a:pt x="8090154" y="0"/>
                </a:lnTo>
                <a:lnTo>
                  <a:pt x="8090154" y="6166543"/>
                </a:lnTo>
                <a:lnTo>
                  <a:pt x="0" y="616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15021" y="2625841"/>
            <a:ext cx="8170250" cy="6632459"/>
          </a:xfrm>
          <a:custGeom>
            <a:avLst/>
            <a:gdLst/>
            <a:ahLst/>
            <a:cxnLst/>
            <a:rect l="l" t="t" r="r" b="b"/>
            <a:pathLst>
              <a:path w="8170250" h="6632459">
                <a:moveTo>
                  <a:pt x="0" y="0"/>
                </a:moveTo>
                <a:lnTo>
                  <a:pt x="8170249" y="0"/>
                </a:lnTo>
                <a:lnTo>
                  <a:pt x="8170249" y="6632459"/>
                </a:lnTo>
                <a:lnTo>
                  <a:pt x="0" y="663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47969" y="159703"/>
            <a:ext cx="381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DF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115705" y="544513"/>
            <a:ext cx="10904969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Visualization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0356" y="2035926"/>
            <a:ext cx="6835140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I. </a:t>
            </a:r>
            <a:r>
              <a:rPr lang="en-US" sz="4499" i="1" u="sng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Breast Cancer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90899" y="4731084"/>
            <a:ext cx="9144000" cy="4715537"/>
          </a:xfrm>
          <a:custGeom>
            <a:avLst/>
            <a:gdLst/>
            <a:ahLst/>
            <a:cxnLst/>
            <a:rect l="l" t="t" r="r" b="b"/>
            <a:pathLst>
              <a:path w="9144000" h="4715537">
                <a:moveTo>
                  <a:pt x="0" y="0"/>
                </a:moveTo>
                <a:lnTo>
                  <a:pt x="9144000" y="0"/>
                </a:lnTo>
                <a:lnTo>
                  <a:pt x="9144000" y="4715537"/>
                </a:lnTo>
                <a:lnTo>
                  <a:pt x="0" y="4715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15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2411" y="2540372"/>
            <a:ext cx="8009625" cy="5206256"/>
          </a:xfrm>
          <a:custGeom>
            <a:avLst/>
            <a:gdLst/>
            <a:ahLst/>
            <a:cxnLst/>
            <a:rect l="l" t="t" r="r" b="b"/>
            <a:pathLst>
              <a:path w="8009625" h="5206256">
                <a:moveTo>
                  <a:pt x="0" y="0"/>
                </a:moveTo>
                <a:lnTo>
                  <a:pt x="8009624" y="0"/>
                </a:lnTo>
                <a:lnTo>
                  <a:pt x="8009624" y="5206256"/>
                </a:lnTo>
                <a:lnTo>
                  <a:pt x="0" y="5206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114999" y="3831284"/>
            <a:ext cx="44958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2411" y="1336035"/>
            <a:ext cx="787908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Parameter Selected via GridSearchCv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26091" y="2399639"/>
            <a:ext cx="7602345" cy="6325615"/>
          </a:xfrm>
          <a:custGeom>
            <a:avLst/>
            <a:gdLst/>
            <a:ahLst/>
            <a:cxnLst/>
            <a:rect l="l" t="t" r="r" b="b"/>
            <a:pathLst>
              <a:path w="7602345" h="6325615">
                <a:moveTo>
                  <a:pt x="0" y="0"/>
                </a:moveTo>
                <a:lnTo>
                  <a:pt x="7602345" y="0"/>
                </a:lnTo>
                <a:lnTo>
                  <a:pt x="7602345" y="6325615"/>
                </a:lnTo>
                <a:lnTo>
                  <a:pt x="0" y="6325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2964" y="3482514"/>
            <a:ext cx="9042326" cy="5775786"/>
          </a:xfrm>
          <a:custGeom>
            <a:avLst/>
            <a:gdLst/>
            <a:ahLst/>
            <a:cxnLst/>
            <a:rect l="l" t="t" r="r" b="b"/>
            <a:pathLst>
              <a:path w="9042326" h="5775786">
                <a:moveTo>
                  <a:pt x="0" y="0"/>
                </a:moveTo>
                <a:lnTo>
                  <a:pt x="9042326" y="0"/>
                </a:lnTo>
                <a:lnTo>
                  <a:pt x="9042326" y="5775786"/>
                </a:lnTo>
                <a:lnTo>
                  <a:pt x="0" y="5775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31884" y="1980539"/>
            <a:ext cx="66979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II. </a:t>
            </a:r>
            <a:r>
              <a:rPr lang="en-US" sz="4500" i="1" u="sng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Dermatology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46892" y="3723857"/>
            <a:ext cx="7753648" cy="5746441"/>
          </a:xfrm>
          <a:custGeom>
            <a:avLst/>
            <a:gdLst/>
            <a:ahLst/>
            <a:cxnLst/>
            <a:rect l="l" t="t" r="r" b="b"/>
            <a:pathLst>
              <a:path w="7753648" h="5746441">
                <a:moveTo>
                  <a:pt x="0" y="0"/>
                </a:moveTo>
                <a:lnTo>
                  <a:pt x="7753649" y="0"/>
                </a:lnTo>
                <a:lnTo>
                  <a:pt x="7753649" y="5746441"/>
                </a:lnTo>
                <a:lnTo>
                  <a:pt x="0" y="5746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0956" y="2673874"/>
            <a:ext cx="8373044" cy="5485788"/>
          </a:xfrm>
          <a:custGeom>
            <a:avLst/>
            <a:gdLst/>
            <a:ahLst/>
            <a:cxnLst/>
            <a:rect l="l" t="t" r="r" b="b"/>
            <a:pathLst>
              <a:path w="8373044" h="5485788">
                <a:moveTo>
                  <a:pt x="0" y="0"/>
                </a:moveTo>
                <a:lnTo>
                  <a:pt x="8373044" y="0"/>
                </a:lnTo>
                <a:lnTo>
                  <a:pt x="8373044" y="5485788"/>
                </a:lnTo>
                <a:lnTo>
                  <a:pt x="0" y="5485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275816" y="2607199"/>
            <a:ext cx="44958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7938" y="1383115"/>
            <a:ext cx="787908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Parameter Selected via GridSearchCv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5864" y="3485946"/>
            <a:ext cx="7667775" cy="5911007"/>
          </a:xfrm>
          <a:custGeom>
            <a:avLst/>
            <a:gdLst/>
            <a:ahLst/>
            <a:cxnLst/>
            <a:rect l="l" t="t" r="r" b="b"/>
            <a:pathLst>
              <a:path w="7667775" h="5911007">
                <a:moveTo>
                  <a:pt x="0" y="0"/>
                </a:moveTo>
                <a:lnTo>
                  <a:pt x="7667776" y="0"/>
                </a:lnTo>
                <a:lnTo>
                  <a:pt x="7667776" y="5911007"/>
                </a:lnTo>
                <a:lnTo>
                  <a:pt x="0" y="5911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46830" y="2495199"/>
            <a:ext cx="8382435" cy="6763101"/>
          </a:xfrm>
          <a:custGeom>
            <a:avLst/>
            <a:gdLst/>
            <a:ahLst/>
            <a:cxnLst/>
            <a:rect l="l" t="t" r="r" b="b"/>
            <a:pathLst>
              <a:path w="8382435" h="6763101">
                <a:moveTo>
                  <a:pt x="0" y="0"/>
                </a:moveTo>
                <a:lnTo>
                  <a:pt x="8382435" y="0"/>
                </a:lnTo>
                <a:lnTo>
                  <a:pt x="8382435" y="6763101"/>
                </a:lnTo>
                <a:lnTo>
                  <a:pt x="0" y="6763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61629" y="2076099"/>
            <a:ext cx="57454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III. </a:t>
            </a:r>
            <a:r>
              <a:rPr lang="en-US" sz="4500" i="1" u="sng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Diabetes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4534117"/>
            <a:ext cx="8812419" cy="4724183"/>
          </a:xfrm>
          <a:custGeom>
            <a:avLst/>
            <a:gdLst/>
            <a:ahLst/>
            <a:cxnLst/>
            <a:rect l="l" t="t" r="r" b="b"/>
            <a:pathLst>
              <a:path w="8812419" h="4724183">
                <a:moveTo>
                  <a:pt x="0" y="0"/>
                </a:moveTo>
                <a:lnTo>
                  <a:pt x="8812419" y="0"/>
                </a:lnTo>
                <a:lnTo>
                  <a:pt x="8812419" y="4724183"/>
                </a:lnTo>
                <a:lnTo>
                  <a:pt x="0" y="4724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6719" y="2523596"/>
            <a:ext cx="7420131" cy="5239808"/>
          </a:xfrm>
          <a:custGeom>
            <a:avLst/>
            <a:gdLst/>
            <a:ahLst/>
            <a:cxnLst/>
            <a:rect l="l" t="t" r="r" b="b"/>
            <a:pathLst>
              <a:path w="7420131" h="5239808">
                <a:moveTo>
                  <a:pt x="0" y="0"/>
                </a:moveTo>
                <a:lnTo>
                  <a:pt x="7420131" y="0"/>
                </a:lnTo>
                <a:lnTo>
                  <a:pt x="7420131" y="5239808"/>
                </a:lnTo>
                <a:lnTo>
                  <a:pt x="0" y="5239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86417" y="3478182"/>
            <a:ext cx="44958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7244" y="1288954"/>
            <a:ext cx="787908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Parameter Selected via GridSearchCv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119454"/>
            <a:ext cx="7698158" cy="5915318"/>
          </a:xfrm>
          <a:custGeom>
            <a:avLst/>
            <a:gdLst/>
            <a:ahLst/>
            <a:cxnLst/>
            <a:rect l="l" t="t" r="r" b="b"/>
            <a:pathLst>
              <a:path w="7698158" h="5915318">
                <a:moveTo>
                  <a:pt x="0" y="0"/>
                </a:moveTo>
                <a:lnTo>
                  <a:pt x="7698158" y="0"/>
                </a:lnTo>
                <a:lnTo>
                  <a:pt x="7698158" y="5915318"/>
                </a:lnTo>
                <a:lnTo>
                  <a:pt x="0" y="591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58818" y="2473141"/>
            <a:ext cx="7922787" cy="6604233"/>
          </a:xfrm>
          <a:custGeom>
            <a:avLst/>
            <a:gdLst/>
            <a:ahLst/>
            <a:cxnLst/>
            <a:rect l="l" t="t" r="r" b="b"/>
            <a:pathLst>
              <a:path w="7922787" h="6604233">
                <a:moveTo>
                  <a:pt x="0" y="0"/>
                </a:moveTo>
                <a:lnTo>
                  <a:pt x="7922787" y="0"/>
                </a:lnTo>
                <a:lnTo>
                  <a:pt x="7922787" y="6604233"/>
                </a:lnTo>
                <a:lnTo>
                  <a:pt x="0" y="6604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95400" y="1701616"/>
            <a:ext cx="8165304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IV. </a:t>
            </a:r>
            <a:r>
              <a:rPr lang="en-US" sz="4500" i="1" u="sng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Heart Disease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44300" y="5064180"/>
            <a:ext cx="7726860" cy="4194120"/>
          </a:xfrm>
          <a:custGeom>
            <a:avLst/>
            <a:gdLst/>
            <a:ahLst/>
            <a:cxnLst/>
            <a:rect l="l" t="t" r="r" b="b"/>
            <a:pathLst>
              <a:path w="7726860" h="4194120">
                <a:moveTo>
                  <a:pt x="0" y="0"/>
                </a:moveTo>
                <a:lnTo>
                  <a:pt x="7726861" y="0"/>
                </a:lnTo>
                <a:lnTo>
                  <a:pt x="7726861" y="4194120"/>
                </a:lnTo>
                <a:lnTo>
                  <a:pt x="0" y="419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6068" y="2088893"/>
            <a:ext cx="8046032" cy="5206256"/>
          </a:xfrm>
          <a:custGeom>
            <a:avLst/>
            <a:gdLst/>
            <a:ahLst/>
            <a:cxnLst/>
            <a:rect l="l" t="t" r="r" b="b"/>
            <a:pathLst>
              <a:path w="8046032" h="5206256">
                <a:moveTo>
                  <a:pt x="0" y="0"/>
                </a:moveTo>
                <a:lnTo>
                  <a:pt x="8046032" y="0"/>
                </a:lnTo>
                <a:lnTo>
                  <a:pt x="8046032" y="5206256"/>
                </a:lnTo>
                <a:lnTo>
                  <a:pt x="0" y="5206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0603" y="962025"/>
            <a:ext cx="787908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Parameter Selected via GridSearchCv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09776" y="3948984"/>
            <a:ext cx="44958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9720" y="2204158"/>
            <a:ext cx="683848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53320" y="3626746"/>
            <a:ext cx="505661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Satyam Jalvi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53320" y="5118639"/>
            <a:ext cx="54884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Narayan 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55952" y="5804439"/>
            <a:ext cx="574736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Sahil Mandalwar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0820" y="4312546"/>
            <a:ext cx="334518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Srijan Singh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227886" y="7450252"/>
            <a:ext cx="8656131" cy="180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57"/>
              </a:lnSpc>
            </a:pPr>
            <a:r>
              <a:rPr lang="en-US" sz="10541" b="1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410</Words>
  <Application>Microsoft Office PowerPoint</Application>
  <PresentationFormat>Custom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Canva Sans</vt:lpstr>
      <vt:lpstr>Canva Sans Bold</vt:lpstr>
      <vt:lpstr>Calibri</vt:lpstr>
      <vt:lpstr>Canva Sans Bold Italics</vt:lpstr>
      <vt:lpstr>Canva Sans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Sahil Mandalwar</cp:lastModifiedBy>
  <cp:revision>6</cp:revision>
  <dcterms:created xsi:type="dcterms:W3CDTF">2006-08-16T00:00:00Z</dcterms:created>
  <dcterms:modified xsi:type="dcterms:W3CDTF">2026-05-17T16:13:12Z</dcterms:modified>
  <dc:identifier>DAHJ6Kg79_g</dc:identifier>
</cp:coreProperties>
</file>